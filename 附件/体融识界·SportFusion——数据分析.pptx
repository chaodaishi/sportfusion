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5306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4572000"/>
          </a:xfrm>
          <a:prstGeom prst="ellipse">
            <a:avLst/>
          </a:prstGeom>
          <a:solidFill>
            <a:srgbClr val="4F46E5">
              <a:alpha val="18000"/>
            </a:srgbClr>
          </a:solidFill>
          <a:ln w="12700">
            <a:solidFill>
              <a:srgbClr val="4F46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029200" y="2011680"/>
            <a:ext cx="5029200" cy="4114800"/>
          </a:xfrm>
          <a:prstGeom prst="ellipse">
            <a:avLst/>
          </a:prstGeom>
          <a:solidFill>
            <a:srgbClr val="EA580C">
              <a:alpha val="14000"/>
            </a:srgbClr>
          </a:solidFill>
          <a:ln w="12700">
            <a:solidFill>
              <a:srgbClr val="EA580C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大数据竞赛 · 题目4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多元经营背景下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200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新兴产业经营比重识别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与产业规模测算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基于NLP文本识别与行业代码融合的体育产业大数据分析方案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6863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体育产业要素分析项目组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0" y="46863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· 目录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汇报内容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77640" cy="658368"/>
          </a:xfrm>
          <a:prstGeom prst="rect">
            <a:avLst/>
          </a:prstGeom>
          <a:solidFill>
            <a:srgbClr val="EEF2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21792" y="140817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项目背景与挑战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62763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多元经营趋势下传统统计方法的困境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3977640" cy="658368"/>
          </a:xfrm>
          <a:prstGeom prst="rect">
            <a:avLst/>
          </a:prstGeom>
          <a:solidFill>
            <a:srgbClr val="EEF2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873752" y="140817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40680" y="1371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整体技术路线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40680" y="162763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三阶段流水线设计与核心方法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3977640" cy="658368"/>
          </a:xfrm>
          <a:prstGeom prst="rect">
            <a:avLst/>
          </a:prstGeom>
          <a:solidFill>
            <a:srgbClr val="EEF2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21792" y="223113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194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数据处理流程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4505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从原始数据到标准化特征工程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2103120"/>
            <a:ext cx="3977640" cy="658368"/>
          </a:xfrm>
          <a:prstGeom prst="rect">
            <a:avLst/>
          </a:prstGeom>
          <a:solidFill>
            <a:srgbClr val="EEF2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873752" y="223113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40680" y="2194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模型构建与验证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40680" y="24505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NLP识别模型与比重测算算法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3977640" cy="658368"/>
          </a:xfrm>
          <a:prstGeom prst="rect">
            <a:avLst/>
          </a:prstGeom>
          <a:solidFill>
            <a:srgbClr val="EEF2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21792" y="305409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88720" y="3017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问题解决与分析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327355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产业规模测算与跨界经营洞察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2926080"/>
            <a:ext cx="3977640" cy="658368"/>
          </a:xfrm>
          <a:prstGeom prst="rect">
            <a:avLst/>
          </a:prstGeom>
          <a:solidFill>
            <a:srgbClr val="EEF2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873752" y="305409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40680" y="3017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核心成果与展望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327355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关键发现与统计方法优化方案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8234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体育产业大数据分析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229600" y="48234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2FF">
              <a:alpha val="50000"/>
            </a:srgbClr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kern="0" spc="200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项目背景与挑战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160520" y="2834640"/>
            <a:ext cx="822960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多元经营趋势下，传统产业统计方法面临严峻挑战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8234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体育产业大数据分析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234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· 研究背景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传统统计方法的现实困境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777240"/>
          </a:xfrm>
          <a:prstGeom prst="rect">
            <a:avLst/>
          </a:prstGeom>
          <a:solidFill>
            <a:srgbClr val="EFF6FF"/>
          </a:solidFill>
          <a:ln w="9525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94360" y="11704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现实痛点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当前我国企业多元化经营趋势显著，大量传统企业跨界布局新兴业务。文化传媒公司办赛事、服装企业生产运动装备、科技公司开发电竞平台...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931920" cy="475488"/>
          </a:xfrm>
          <a:prstGeom prst="rect">
            <a:avLst/>
          </a:prstGeom>
          <a:solidFill>
            <a:srgbClr val="EEF2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66928" y="2048256"/>
            <a:ext cx="3712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二值判定逻辑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231136"/>
            <a:ext cx="3712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企业要么是"体育企业"（100%），要么不是（0%），无法反映部分经营的真实状态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3931920" cy="475488"/>
          </a:xfrm>
          <a:prstGeom prst="rect">
            <a:avLst/>
          </a:prstGeom>
          <a:solidFill>
            <a:srgbClr val="EEF2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66928" y="2596896"/>
            <a:ext cx="3712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仅依赖行业代码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779776"/>
            <a:ext cx="3712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GB/T 4754-2017行业代码注册时确定，无法反映实际经营内容变化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931920" cy="475488"/>
          </a:xfrm>
          <a:prstGeom prst="rect">
            <a:avLst/>
          </a:prstGeom>
          <a:solidFill>
            <a:srgbClr val="EEF2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66928" y="3145536"/>
            <a:ext cx="3712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新兴业态覆盖不足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3328416"/>
            <a:ext cx="3712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电子竞技、体育传媒、智慧体育等新业态缺乏对应行业分类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39319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937760" y="12070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研究目标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83480" y="1636776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5052060" y="1801368"/>
            <a:ext cx="27432" cy="457200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257800" y="160020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业务边界识别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57800" y="183794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精准识别多元经营企业的体育业务类型与边界，区分9大业态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983480" y="2258568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5052060" y="2423160"/>
            <a:ext cx="27432" cy="457200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257800" y="222199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经营比重测算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57800" y="245973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量化企业体育业务在整体经营中的占比（连续值0-1，而非二值）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83480" y="2880360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5052060" y="3044952"/>
            <a:ext cx="27432" cy="457200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5257800" y="2843784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产业规模估算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57800" y="308152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科学估算区域体育产业总规模、分业态规模及空间分布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983480" y="3502152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5257800" y="346557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统计方法优化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57800" y="370332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提出面向多元经营的新兴产业统计监测优化方案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48234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体育产业大数据分析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229600" y="48234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· 数据概览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76,687家企业微观数据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5453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173507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企业总数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7350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76,687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" y="1901952"/>
            <a:ext cx="173507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全量企业微观数据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48890" y="1097280"/>
            <a:ext cx="195453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2658618" y="1170432"/>
            <a:ext cx="173507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行业代码范围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658618" y="1371600"/>
            <a:ext cx="17350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1491~9054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58618" y="1901952"/>
            <a:ext cx="173507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覆盖制造业到服务业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40580" y="1097280"/>
            <a:ext cx="195453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750308" y="1170432"/>
            <a:ext cx="173507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业务活动缺失率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0308" y="1371600"/>
            <a:ext cx="17350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0.13%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50308" y="1901952"/>
            <a:ext cx="173507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仅98条缺失，数据质量高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732270" y="1097280"/>
            <a:ext cx="195453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841998" y="1170432"/>
            <a:ext cx="173507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核心字段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841998" y="1371600"/>
            <a:ext cx="17350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4类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41998" y="1901952"/>
            <a:ext cx="173507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信用代码/名称/行业/业务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514600"/>
            <a:ext cx="8229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85800" y="26243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数据字段说明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297180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统一社会信用代码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227832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企业唯一标识符，用于去重和关联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633472" y="297180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企业详细名称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33472" y="3227832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包含地域信息和行业特征词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626864" y="297180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行业分类代码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26864" y="3227832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GB/T 4754-2017 四级行业代码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620256" y="297180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主要业务活动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20256" y="3227832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企业经营内容的文本描述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48234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体育产业大数据分析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234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2FF">
              <a:alpha val="50000"/>
            </a:srgbClr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kern="0" spc="200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整体技术路线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160520" y="2834640"/>
            <a:ext cx="822960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三阶段流水线：数据处理 → 模型构建 → 问题解决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8234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体育产业大数据分析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234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· 技术路线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三阶段分析流水线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8516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8516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8516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数据预处理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56232"/>
            <a:ext cx="18516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清洗 · 分词 · 特征工程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336292" y="146304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583180" y="1143000"/>
            <a:ext cx="18516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583180" y="1234440"/>
            <a:ext cx="18516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83180" y="1600200"/>
            <a:ext cx="18516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识别与测算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83180" y="1856232"/>
            <a:ext cx="18516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NLP识别 · 比重模型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462272" y="146304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709160" y="1143000"/>
            <a:ext cx="18516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709160" y="1234440"/>
            <a:ext cx="18516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709160" y="1600200"/>
            <a:ext cx="18516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产业分析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1856232"/>
            <a:ext cx="18516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规模测算 · 空间分析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588252" y="146304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835140" y="1143000"/>
            <a:ext cx="18516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835140" y="1234440"/>
            <a:ext cx="18516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835140" y="1600200"/>
            <a:ext cx="18516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报告输出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35140" y="1856232"/>
            <a:ext cx="18516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 · 政策建议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2514600"/>
            <a:ext cx="26212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94360" y="2624328"/>
            <a:ext cx="234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4F46E5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" y="2971800"/>
            <a:ext cx="2292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文件解析与格式标准化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1792" y="3300984"/>
            <a:ext cx="2292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数据清洗与去重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1792" y="3630168"/>
            <a:ext cx="2292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中文分词与关键词提取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1792" y="3959352"/>
            <a:ext cx="2292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体育词匹配与特征工程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61360" y="2514600"/>
            <a:ext cx="26212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3398520" y="2624328"/>
            <a:ext cx="234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EA580C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25952" y="2971800"/>
            <a:ext cx="2292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业务线拆分与逐条分类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425952" y="3300984"/>
            <a:ext cx="2292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双重识别机制（文本+代码）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425952" y="3630168"/>
            <a:ext cx="2292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四维度加权比重模型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425952" y="3959352"/>
            <a:ext cx="2292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跨界经营判定与验证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65520" y="2514600"/>
            <a:ext cx="26212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202680" y="2624328"/>
            <a:ext cx="234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818CF8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30112" y="2971800"/>
            <a:ext cx="2292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产业规模与产出测算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30112" y="3300984"/>
            <a:ext cx="2292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业态结构与空间分析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30112" y="3630168"/>
            <a:ext cx="2292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跨界经营深度洞察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30112" y="3959352"/>
            <a:ext cx="2292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统计方法优化方案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48234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体育产业大数据分析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229600" y="48234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2FF">
              <a:alpha val="50000"/>
            </a:srgbClr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kern="0" spc="200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数据处理流程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160520" y="2834640"/>
            <a:ext cx="822960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从原始Excel到标准化特征数据集的完整预处理流程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8234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体育产业大数据分析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234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· 数据预处理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十步标准化处理流程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536192" cy="1143000"/>
          </a:xfrm>
          <a:prstGeom prst="rect">
            <a:avLst/>
          </a:prstGeom>
          <a:solidFill>
            <a:srgbClr val="EEF2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94360" y="886968"/>
            <a:ext cx="329184" cy="3291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94360" y="90525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307592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文件解析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581912"/>
            <a:ext cx="1316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支持xlsx/xls/csv格式自动识别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30552" y="1051560"/>
            <a:ext cx="1536192" cy="1143000"/>
          </a:xfrm>
          <a:prstGeom prst="rect">
            <a:avLst/>
          </a:prstGeom>
          <a:solidFill>
            <a:srgbClr val="EEF2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2267712" y="886968"/>
            <a:ext cx="329184" cy="3291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267712" y="90525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40280" y="1307592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列名标准化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40280" y="1581912"/>
            <a:ext cx="1316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去除空格、统一全角半角括号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03904" y="1051560"/>
            <a:ext cx="1536192" cy="1143000"/>
          </a:xfrm>
          <a:prstGeom prst="rect">
            <a:avLst/>
          </a:prstGeom>
          <a:solidFill>
            <a:srgbClr val="EEF2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941064" y="886968"/>
            <a:ext cx="329184" cy="3291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941064" y="90525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13632" y="1307592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去重处理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13632" y="1581912"/>
            <a:ext cx="1316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全字段去重，确保数据唯一性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77256" y="1051560"/>
            <a:ext cx="1536192" cy="1143000"/>
          </a:xfrm>
          <a:prstGeom prst="rect">
            <a:avLst/>
          </a:prstGeom>
          <a:solidFill>
            <a:srgbClr val="EEF2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614416" y="886968"/>
            <a:ext cx="329184" cy="3291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614416" y="90525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86984" y="1307592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缺失值处理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86984" y="1581912"/>
            <a:ext cx="1316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文本列填充空字符串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150608" y="1051560"/>
            <a:ext cx="1536192" cy="1143000"/>
          </a:xfrm>
          <a:prstGeom prst="rect">
            <a:avLst/>
          </a:prstGeom>
          <a:solidFill>
            <a:srgbClr val="EEF2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7287768" y="886968"/>
            <a:ext cx="329184" cy="3291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7287768" y="90525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60336" y="1307592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自动列检测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60336" y="1581912"/>
            <a:ext cx="1316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智能识别4类核心字段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2377440"/>
            <a:ext cx="1536192" cy="1143000"/>
          </a:xfrm>
          <a:prstGeom prst="rect">
            <a:avLst/>
          </a:prstGeom>
          <a:solidFill>
            <a:srgbClr val="EEF2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594360" y="2212848"/>
            <a:ext cx="329184" cy="3291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594360" y="22311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6928" y="2633472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中文分词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" y="2907792"/>
            <a:ext cx="1316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jieba分词，271词体育词典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130552" y="2377440"/>
            <a:ext cx="1536192" cy="1143000"/>
          </a:xfrm>
          <a:prstGeom prst="rect">
            <a:avLst/>
          </a:prstGeom>
          <a:solidFill>
            <a:srgbClr val="EEF2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2267712" y="2212848"/>
            <a:ext cx="329184" cy="3291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2267712" y="22311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240280" y="2633472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关键词提取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240280" y="2907792"/>
            <a:ext cx="1316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TF-IDF算法提取Top10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803904" y="2377440"/>
            <a:ext cx="1536192" cy="1143000"/>
          </a:xfrm>
          <a:prstGeom prst="rect">
            <a:avLst/>
          </a:prstGeom>
          <a:solidFill>
            <a:srgbClr val="EEF2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3941064" y="2212848"/>
            <a:ext cx="329184" cy="3291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3941064" y="22311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913632" y="2633472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体育词匹配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913632" y="2907792"/>
            <a:ext cx="1316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匹配体育词典关键词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477256" y="2377440"/>
            <a:ext cx="1536192" cy="1143000"/>
          </a:xfrm>
          <a:prstGeom prst="rect">
            <a:avLst/>
          </a:prstGeom>
          <a:solidFill>
            <a:srgbClr val="EEF2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5614416" y="2212848"/>
            <a:ext cx="329184" cy="3291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5614416" y="22311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586984" y="2633472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业态分类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586984" y="2907792"/>
            <a:ext cx="1316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文本+代码融合，9大业态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150608" y="2377440"/>
            <a:ext cx="1536192" cy="1143000"/>
          </a:xfrm>
          <a:prstGeom prst="rect">
            <a:avLst/>
          </a:prstGeom>
          <a:solidFill>
            <a:srgbClr val="EEF2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7287768" y="2212848"/>
            <a:ext cx="329184" cy="3291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7287768" y="22311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260336" y="2633472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特征工程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260336" y="2907792"/>
            <a:ext cx="1316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文本长度、词数、覆盖度等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57200" y="3657600"/>
            <a:ext cx="8229600" cy="594360"/>
          </a:xfrm>
          <a:prstGeom prst="rect">
            <a:avLst/>
          </a:prstGeom>
          <a:solidFill>
            <a:srgbClr val="F0FDF4"/>
          </a:solidFill>
          <a:ln w="95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640080" y="3749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处理性能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2103120" y="376732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单CPU运行，处理速度约 15,000条/秒，76,687条数据全部处理仅需约5秒，高效且可扩展。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57200" y="48234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体育产业大数据分析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229600" y="48234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FOUNDATION · 基础词库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271词体育产业词典与9大业态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5478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21792" y="1097280"/>
            <a:ext cx="36255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9大体育业态分类体系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15201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体育赛事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627632"/>
            <a:ext cx="152019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~35词 · 马拉松/锦标赛/联赛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480310" y="1463040"/>
            <a:ext cx="15201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健身休闲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480310" y="1627632"/>
            <a:ext cx="152019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~50词 · 瑜伽/游泳/滑雪/武术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15201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👟 体育用品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1947672"/>
            <a:ext cx="152019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~45词 · 器材/运动服装/装备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480310" y="1783080"/>
            <a:ext cx="15201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体育培训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480310" y="1947672"/>
            <a:ext cx="152019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~30词 · 篮球/青少年/中考体育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4360" y="2103120"/>
            <a:ext cx="15201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🏟️ 体育场馆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2267712"/>
            <a:ext cx="152019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~25词 · 体育馆/游泳馆/体育公园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480310" y="2103120"/>
            <a:ext cx="15201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体育传媒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80310" y="2267712"/>
            <a:ext cx="152019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~25词 · 转播/直播/经纪/IP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94360" y="2423160"/>
            <a:ext cx="15201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体育管理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2587752"/>
            <a:ext cx="152019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~30词 · 协会/旅游/投资/智慧体育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480310" y="2423160"/>
            <a:ext cx="15201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电子竞技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480310" y="2587752"/>
            <a:ext cx="152019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~20词 · 电竞俱乐部/赛事/直播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94360" y="2743200"/>
            <a:ext cx="15201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体育彩票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" y="2907792"/>
            <a:ext cx="152019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~7词 · 竞彩/足球彩票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732020" y="1005840"/>
            <a:ext cx="39547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896612" y="1097280"/>
            <a:ext cx="36255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行业代码映射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96612" y="1417320"/>
            <a:ext cx="109728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079492" y="1389888"/>
            <a:ext cx="34427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直接体育代码（18个）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79492" y="1581912"/>
            <a:ext cx="34427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8911-8930体育组织/场馆/健身、2441-2449用品制造、5142/5242批发零售等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96612" y="1938528"/>
            <a:ext cx="109728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5079492" y="1911096"/>
            <a:ext cx="34427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间接相关代码（20+个）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79492" y="2103120"/>
            <a:ext cx="34427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教育培训、运动鞋制造、传媒出版、互联网软件、旅游等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32020" y="2697480"/>
            <a:ext cx="39547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4896612" y="2788920"/>
            <a:ext cx="36255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技术实现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14900" y="3108960"/>
            <a:ext cx="35890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jieba分词 + 自定义词典加载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14900" y="3401568"/>
            <a:ext cx="35890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TF-IDF 关键词提取算法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14900" y="3694176"/>
            <a:ext cx="35890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GB/T 4754-2017 代码映射表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14900" y="3986784"/>
            <a:ext cx="35890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业态关键词 → 分类标签映射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0" y="48234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体育产业大数据分析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229600" y="48234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2FF">
              <a:alpha val="50000"/>
            </a:srgbClr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kern="0" spc="200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模型构建与验证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160520" y="2834640"/>
            <a:ext cx="822960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NLP融合识别 + 四维度加权比重测算模型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8234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体育产业大数据分析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234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MODEL · 识别模型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双重识别机制：文本NLP + 行业代码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识别流程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475488"/>
          </a:xfrm>
          <a:prstGeom prst="rect">
            <a:avLst/>
          </a:prstGeom>
          <a:solidFill>
            <a:srgbClr val="EEF2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94360" y="14264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业务线解析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16184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按逗号/分号/顿号/斜杠拆分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331720" y="1847088"/>
            <a:ext cx="1828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3931920" cy="475488"/>
          </a:xfrm>
          <a:prstGeom prst="rect">
            <a:avLst/>
          </a:prstGeom>
          <a:solidFill>
            <a:srgbClr val="EEF2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94360" y="19933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逐条分类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18541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每条独立判断体育业务及业态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331720" y="2414016"/>
            <a:ext cx="1828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05456"/>
            <a:ext cx="3931920" cy="475488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94360" y="2560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融合判定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275234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行业代码规则 + 文本NLP匹配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331720" y="2980944"/>
            <a:ext cx="1828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072384"/>
            <a:ext cx="3931920" cy="475488"/>
          </a:xfrm>
          <a:prstGeom prst="rect">
            <a:avLst/>
          </a:prstGeom>
          <a:solidFill>
            <a:srgbClr val="EEF2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94360" y="31272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输出结果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331927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是否体育企业/业态/跨界类型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54880" y="1051560"/>
            <a:ext cx="393192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919472" y="1143000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置信度规则矩阵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92040" y="1508760"/>
            <a:ext cx="3657600" cy="292608"/>
          </a:xfrm>
          <a:prstGeom prst="rect">
            <a:avLst/>
          </a:prstGeom>
          <a:solidFill>
            <a:srgbClr val="4F46E5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937760" y="1554480"/>
            <a:ext cx="16779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行业代码类型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07124" y="1554480"/>
            <a:ext cx="9829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文本匹配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690104" y="1554480"/>
            <a:ext cx="1088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置信度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92040" y="1801368"/>
            <a:ext cx="3657600" cy="292608"/>
          </a:xfrm>
          <a:prstGeom prst="rect">
            <a:avLst/>
          </a:prstGeom>
          <a:solidFill>
            <a:srgbClr val="EEF2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937760" y="1847088"/>
            <a:ext cx="16779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直接体育代码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707124" y="1847088"/>
            <a:ext cx="9829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90104" y="1847088"/>
            <a:ext cx="1088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92040" y="2093976"/>
            <a:ext cx="3657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937760" y="2139696"/>
            <a:ext cx="16779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直接体育代码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707124" y="2139696"/>
            <a:ext cx="9829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690104" y="2139696"/>
            <a:ext cx="1088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92040" y="2386584"/>
            <a:ext cx="3657600" cy="292608"/>
          </a:xfrm>
          <a:prstGeom prst="rect">
            <a:avLst/>
          </a:prstGeom>
          <a:solidFill>
            <a:srgbClr val="EEF2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4937760" y="2432304"/>
            <a:ext cx="16779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间接相关代码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707124" y="2432304"/>
            <a:ext cx="9829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690104" y="2432304"/>
            <a:ext cx="1088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92040" y="2679192"/>
            <a:ext cx="3657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4937760" y="2724912"/>
            <a:ext cx="16779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间接相关代码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707124" y="2724912"/>
            <a:ext cx="9829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690104" y="2724912"/>
            <a:ext cx="1088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92040" y="2971800"/>
            <a:ext cx="3657600" cy="292608"/>
          </a:xfrm>
          <a:prstGeom prst="rect">
            <a:avLst/>
          </a:prstGeom>
          <a:solidFill>
            <a:srgbClr val="EEF2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4937760" y="3017520"/>
            <a:ext cx="16779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非体育代码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707124" y="3017520"/>
            <a:ext cx="9829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690104" y="3017520"/>
            <a:ext cx="1088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92040" y="3264408"/>
            <a:ext cx="3657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4937760" y="3310128"/>
            <a:ext cx="16779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非体育代码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707124" y="3310128"/>
            <a:ext cx="9829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690104" y="3310128"/>
            <a:ext cx="1088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92040" y="3666744"/>
            <a:ext cx="3657600" cy="457200"/>
          </a:xfrm>
          <a:prstGeom prst="rect">
            <a:avLst/>
          </a:prstGeom>
          <a:solidFill>
            <a:srgbClr val="FFF7ED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4983480" y="375818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判定阈值：体育占比 ≥ 10% 或行业代码为直接体育代码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" y="48234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体育产业大数据分析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229600" y="48234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MODEL · 比重测算模型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四维度加权比重测算模型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sport_ratio = 0.40 × W₁  +  0.25 × W₂  +  0.25 × W₃  +  0.10 × W₄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95453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66928" y="1874520"/>
            <a:ext cx="17350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W₁ · 业务范围占比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130552"/>
            <a:ext cx="173507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权重 40%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2441448"/>
            <a:ext cx="17350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12E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体育业务线条数 / 总业务线条数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3017520"/>
            <a:ext cx="1735074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66928" y="3063240"/>
            <a:ext cx="17350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衡量体育在业务范围中的覆盖面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48890" y="1783080"/>
            <a:ext cx="195453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2658618" y="1874520"/>
            <a:ext cx="17350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W₂ · 关键词密度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8618" y="2130552"/>
            <a:ext cx="173507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权重 25%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58618" y="2441448"/>
            <a:ext cx="17350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12E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min(体育词命中数/总词数×10, 1.0)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58618" y="3017520"/>
            <a:ext cx="1735074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658618" y="3063240"/>
            <a:ext cx="17350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文本描述中体育内容的密集程度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40580" y="1783080"/>
            <a:ext cx="195453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750308" y="1874520"/>
            <a:ext cx="17350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W₃ · 行业代码权重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0308" y="2130552"/>
            <a:ext cx="173507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权重 25%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0308" y="2441448"/>
            <a:ext cx="17350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12E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direct=0.85, indirect=0.30, none=0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0308" y="3017520"/>
            <a:ext cx="1735074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750308" y="3063240"/>
            <a:ext cx="17350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行业属性的体育关联强度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732270" y="1783080"/>
            <a:ext cx="195453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841998" y="1874520"/>
            <a:ext cx="17350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W₄ · 业态覆盖度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41998" y="2130552"/>
            <a:ext cx="173507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权重 10%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41998" y="2441448"/>
            <a:ext cx="17350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12E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命中的业态种类数 / 9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41998" y="3017520"/>
            <a:ext cx="1735074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841998" y="3063240"/>
            <a:ext cx="17350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体育业务的多元化程度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3794760"/>
            <a:ext cx="8229600" cy="594360"/>
          </a:xfrm>
          <a:prstGeom prst="rect">
            <a:avLst/>
          </a:prstGeom>
          <a:solidFill>
            <a:srgbClr val="F0FDF4"/>
          </a:solidFill>
          <a:ln w="95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40080" y="38587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模型创新点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194560" y="384048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从传统的二值判定（0或1）升级为连续量化（0-1区间），真实反映多元经营企业的部分体育经营状态。四个维度分别从广度、浓度、属性、多元性刻画体育关联程度。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48234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体育产业大数据分析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229600" y="48234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· 模型验证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传统方法 vs NLP融合识别法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传统行业代码法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识别体育企业 8,016 家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占比 10.45%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仅二值判定（0或100%）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无法识别跨界经营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电竞/传媒覆盖几乎为0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假设所有企业100%体育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51960" y="18288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029200" y="100584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212080" y="1097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NLP融合识别法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14630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识别体育企业 8,950 家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17373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占比 11.67%（+1.22pp）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12080" y="20116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连续比重（0-1区间）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12080" y="22860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识别跨界企业 977 家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12080" y="25603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电竞91% / 传媒94% 覆盖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12080" y="28346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平均体育占比 64.71%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195453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66928" y="3493008"/>
            <a:ext cx="173507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企业识别增量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3675888"/>
            <a:ext cx="17350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+934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66928" y="4114800"/>
            <a:ext cx="173507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提升 11.7%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48890" y="3429000"/>
            <a:ext cx="195453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2658618" y="3493008"/>
            <a:ext cx="173507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跨界经营识别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658618" y="3675888"/>
            <a:ext cx="17350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951家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658618" y="4114800"/>
            <a:ext cx="173507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占体育企业10.92%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40580" y="3429000"/>
            <a:ext cx="195453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750308" y="3493008"/>
            <a:ext cx="173507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平均体育占比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0308" y="3675888"/>
            <a:ext cx="17350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64.71%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750308" y="4114800"/>
            <a:ext cx="173507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更符合实际经营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732270" y="3429000"/>
            <a:ext cx="195453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841998" y="3493008"/>
            <a:ext cx="173507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新业态覆盖率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841998" y="3675888"/>
            <a:ext cx="17350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91~94%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841998" y="4114800"/>
            <a:ext cx="173507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电竞/传媒大幅提升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7200" y="48234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体育产业大数据分析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229600" y="48234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2FF">
              <a:alpha val="50000"/>
            </a:srgbClr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kern="0" spc="200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问题解决与分析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160520" y="2834640"/>
            <a:ext cx="822960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产业规模测算、跨界经营洞察与空间分布分析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8234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体育产业大数据分析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234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ANALYSIS · 产业分析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产业规模与业态结构</a:t>
            </a:r>
            <a:endParaRPr lang="en-US" sz="2400" dirty="0"/>
          </a:p>
        </p:txBody>
      </p:sp>
      <p:pic>
        <p:nvPicPr>
          <p:cNvPr id="4" name="Image 0" descr="f:\比赛\大数据要素分析\sports-industry-analysis\assets\chart_category_pie_1200x7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393192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54880" y="1005840"/>
            <a:ext cx="18973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4846320" y="1060704"/>
            <a:ext cx="17145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总产出指数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846320" y="1243584"/>
            <a:ext cx="17145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579,125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846320" y="1600200"/>
            <a:ext cx="17145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归一化规模指标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6789420" y="1005840"/>
            <a:ext cx="18973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6880860" y="1060704"/>
            <a:ext cx="17145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业态多样性指数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880860" y="1243584"/>
            <a:ext cx="17145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0.7638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880860" y="1600200"/>
            <a:ext cx="17145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Shannon指数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754880" y="2011680"/>
            <a:ext cx="39319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4919472" y="2103120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三大主导业态（73.7%）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937760" y="2459736"/>
            <a:ext cx="274320" cy="2743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4937760" y="2478024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03520" y="2423160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体育用品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303520" y="26426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产出171,922 · 2,265家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498080" y="24597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29.7%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937760" y="2990088"/>
            <a:ext cx="274320" cy="2743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4937760" y="3008376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303520" y="2953512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健身休闲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303520" y="317296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产出156,284 · 3,134家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7498080" y="299008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27.0%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937760" y="3520440"/>
            <a:ext cx="274320" cy="27432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4937760" y="353872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303520" y="3483864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体育赛事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303520" y="370332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产出98,302 · 1,241家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498080" y="35204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17.0%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7200" y="48234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体育产业大数据分析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8229600" y="48234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 ANALYSIS · 跨界分析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跨界经营深度洞察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21792" y="1097280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三类跨界模式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3657600" cy="475488"/>
          </a:xfrm>
          <a:prstGeom prst="rect">
            <a:avLst/>
          </a:prstGeom>
          <a:solidFill>
            <a:srgbClr val="4F46E5">
              <a:alpha val="10000"/>
            </a:srgbClr>
          </a:solidFill>
          <a:ln w="63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13232" y="150876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纯跨界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26080" y="149047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878家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1709928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行业代码非体育，但文本描述有体育业务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94360" y="2029968"/>
            <a:ext cx="3657600" cy="475488"/>
          </a:xfrm>
          <a:prstGeom prst="rect">
            <a:avLst/>
          </a:prstGeom>
          <a:solidFill>
            <a:srgbClr val="D97706">
              <a:alpha val="10000"/>
            </a:srgbClr>
          </a:solidFill>
          <a:ln w="63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13232" y="20756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潜在跨界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26080" y="205740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56家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" y="2276856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间接行业代码 + 文本有体育业务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2596896"/>
            <a:ext cx="3657600" cy="475488"/>
          </a:xfrm>
          <a:prstGeom prst="rect">
            <a:avLst/>
          </a:prstGeom>
          <a:solidFill>
            <a:srgbClr val="059669">
              <a:alpha val="10000"/>
            </a:srgbClr>
          </a:solidFill>
          <a:ln w="63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13232" y="264261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多元经营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26080" y="262432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43家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" y="2843784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直接体育代码但有非体育业务线</a:t>
            </a:r>
            <a:endParaRPr lang="en-US" sz="850" dirty="0"/>
          </a:p>
        </p:txBody>
      </p:sp>
      <p:pic>
        <p:nvPicPr>
          <p:cNvPr id="18" name="Image 0" descr="f:\比赛\大数据要素分析\sports-industry-analysis\assets\chart_crossover_bar_1050x6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05840"/>
            <a:ext cx="3931920" cy="219456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solidFill>
            <a:srgbClr val="FFF7ED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685800" y="3474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核心洞察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10312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新兴业态（电竞91%、传媒94%、彩票100%）跨界率均超90%，说明现有行业分类体系完全无法覆盖这些新业态，是统计漏算的重灾区。传统业态（用品7%、培训4%、健身2%）跨界率较低，行业代码仍较准确。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57200" y="48234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体育产业大数据分析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229600" y="48234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4572000"/>
          </a:xfrm>
          <a:prstGeom prst="ellipse">
            <a:avLst/>
          </a:prstGeom>
          <a:solidFill>
            <a:srgbClr val="4F46E5">
              <a:alpha val="20000"/>
            </a:srgbClr>
          </a:solidFill>
          <a:ln w="12700">
            <a:solidFill>
              <a:srgbClr val="4F46E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486400" y="2286000"/>
            <a:ext cx="5486400" cy="4572000"/>
          </a:xfrm>
          <a:prstGeom prst="ellipse">
            <a:avLst/>
          </a:prstGeom>
          <a:solidFill>
            <a:srgbClr val="EA580C">
              <a:alpha val="15000"/>
            </a:srgbClr>
          </a:solidFill>
          <a:ln w="12700">
            <a:solidFill>
              <a:srgbClr val="EA580C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· 总结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kern="0" spc="1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从数据处理到模型构建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kern="0" spc="150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再到问题解决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60520" y="2377440"/>
            <a:ext cx="822960" cy="36576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十步数据预处理 · 双重识别机制 · 四维度比重模型 · 三层统计体系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185166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57200" y="3273552"/>
            <a:ext cx="18516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企业识别增量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3456432"/>
            <a:ext cx="18516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+11.7%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583180" y="3200400"/>
            <a:ext cx="185166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2583180" y="3273552"/>
            <a:ext cx="18516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跨界企业识别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83180" y="3456432"/>
            <a:ext cx="18516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951家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09160" y="3200400"/>
            <a:ext cx="185166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709160" y="3273552"/>
            <a:ext cx="18516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新业态覆盖率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09160" y="3456432"/>
            <a:ext cx="18516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91~94%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35140" y="3200400"/>
            <a:ext cx="185166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835140" y="3273552"/>
            <a:ext cx="18516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处理效率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35140" y="3456432"/>
            <a:ext cx="18516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1.5万条/秒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kern="0" spc="200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体育产业大数据要素分析项目组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7777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986</Words>
  <Application>Microsoft Office PowerPoint</Application>
  <PresentationFormat>全屏显示(16:9)</PresentationFormat>
  <Paragraphs>368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帶师 超</cp:lastModifiedBy>
  <cp:revision>2</cp:revision>
  <dcterms:created xsi:type="dcterms:W3CDTF">2026-07-12T11:37:15Z</dcterms:created>
  <dcterms:modified xsi:type="dcterms:W3CDTF">2026-07-13T13:14:34Z</dcterms:modified>
</cp:coreProperties>
</file>